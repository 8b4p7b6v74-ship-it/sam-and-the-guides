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ENGINEERING &amp; ROBOTICS · CAPSTONE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>
                <a:solidFill>
                  <a:srgbClr val="EAF0F7"/>
                </a:solidFill>
                <a:latin typeface="Arial"/>
              </a:rPr>
              <a:t>Navigation &amp; Guidance of Blind and Visually-Impaired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5196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9FB1C6"/>
                </a:solidFill>
                <a:latin typeface="Arial"/>
              </a:rPr>
              <a:t>Camera-free swarm robotics and a simple app that give blind and visually impaired people the freedom to move independently, safely, and on their own terms — guided by two or more robots following and leading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B1C6"/>
                </a:solidFill>
                <a:latin typeface="Consolas"/>
              </a:rPr>
              <a:t>Presented by  Violet · Samuel · Gabriel     ·  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02 · 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Independent indoor travel is still out of reach.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2496312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FFB02E"/>
                </a:solidFill>
                <a:latin typeface="Arial"/>
              </a:rPr>
              <a:t>2.2B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people live with a vision impairment; blind people rise from ~43M (2020) to ~61M by 2050.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331720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2496312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EAF0F7"/>
                </a:solidFill>
                <a:latin typeface="Arial"/>
              </a:rPr>
              <a:t>28%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of blind &amp; partially-sighted people feel able to travel independently — even after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3256" y="2331720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2496312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EAF0F7"/>
                </a:solidFill>
                <a:latin typeface="Arial"/>
              </a:rPr>
              <a:t>Indoors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no curbs, walls or traffic sounds as landmarks — an unfamiliar building is 'too hard to attempt.'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12463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877055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EAF0F7"/>
                </a:solidFill>
                <a:latin typeface="Arial"/>
              </a:rPr>
              <a:t>$45–60k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a guide dog: 1–5 yrs to train, serves only ~2% of blind people (&lt;19,000 working dogs, falling).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712463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3877055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EAF0F7"/>
                </a:solidFill>
                <a:latin typeface="Arial"/>
              </a:rPr>
              <a:t>40%+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of white-cane users report head-level accidents monthly — the cane senses only below the waist.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3256" y="3712463"/>
            <a:ext cx="3310128" cy="12344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877055"/>
            <a:ext cx="287121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400" b="1">
                <a:solidFill>
                  <a:srgbClr val="EAF0F7"/>
                </a:solidFill>
                <a:latin typeface="Arial"/>
              </a:rPr>
              <a:t>Audio-only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1C6"/>
                </a:solidFill>
                <a:latin typeface="Arial"/>
              </a:rPr>
              <a:t>BlindSquare, GoodMaps, Evelity, Wayfindr all talk — none physically leads.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257800"/>
            <a:ext cx="10424160" cy="1051560"/>
          </a:xfrm>
          <a:prstGeom prst="roundRect">
            <a:avLst>
              <a:gd name="adj" fmla="val 4500"/>
            </a:avLst>
          </a:prstGeom>
          <a:solidFill>
            <a:srgbClr val="1C180A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1324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FFB02E"/>
                </a:solidFill>
                <a:latin typeface="Consolas"/>
              </a:rPr>
              <a:t>PROBLEM STATEMENT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EAF0F7"/>
                </a:solidFill>
                <a:latin typeface="Arial"/>
              </a:rPr>
              <a:t>How might we help a blind person navigate an unfamiliar indoor space safely and independently — without a guide dog, a costly wait, or relying on another person?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03 ·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Three low-cost robots that physically lead the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9FB1C6"/>
                </a:solidFill>
                <a:latin typeface="Arial"/>
              </a:rPr>
              <a:t>A system of three small robots plus a phone app that leads a blind traveler (Sam) along pre-mapped indoor routes. Two guide robots lead, a companion stays beside Sam, and one piece of software — the brain — coordinates all three over Bluetooth. No camera. No internet.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246120"/>
            <a:ext cx="3310128" cy="274320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447288"/>
            <a:ext cx="27980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ASK &amp; PLAN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Voice destination — 'Take me to the store.'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Route + ETA — 'be there by 6:00 PM' and it departs on time by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3246120"/>
            <a:ext cx="3310128" cy="274320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3447288"/>
            <a:ext cx="27980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COORDINATE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Real-time (~5 Hz) — balances speed &amp; spacing so no one is left behind.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Safety — stops on obstacles, taps the arm, speaks every step; e-stop anytime.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246120"/>
            <a:ext cx="3273552" cy="274320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3447288"/>
            <a:ext cx="27614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PRIVATE &amp; SHARED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Camera-free &amp; offline — private by design (hospitals, care homes).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Live family view — a relative anywhere can follow the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04 · OBJECTIVES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What it must do — and why it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OBJECTIVES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Lead a blind user from A to B along a mapped route, reliably.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Hold a safe formation — the slowest member (Sam) sets the pace.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Stop at obstacles and alert the user — light + arm tap + voice.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Compute ETA and support scheduled departures.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Stay low-cost, camera-free and offline.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Provide live monitoring for family and caregivers.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34C77B"/>
                </a:solidFill>
                <a:latin typeface="Consolas"/>
              </a:rPr>
              <a:t>EXPECTED IMPACT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Restores independent indoor mobility for a large, ageing, under-served population.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 kit could target under $2,000 — vs a $45–60k, multi-year guide dog.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Physically guides the user — unlike every audio-only app.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Fits accessibility mandates (EAA, ADA) — airports, care homes, museums, hospitals.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Assistive-independence programs return $4–7 of social value per $1 (SROI) — plus dignity, employment, mental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05 · DESIGN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Simple robots. One intelligent brain.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HARDWARE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3× XRP robots (RP2350, MicroPython) — driven wheels + encoders, IMU, two line sensors, HC-SR04 ultrasonic, servo 'arm', LED.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Roles: Opener (sensors) · Sam (blind, no external sensors) · Closer (follower).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The hub — a phone or laptop running the app.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Bluetooth (Nordic UART) links all three — no internet. ~$2,000 target kit.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SOFTWARE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One identical firmware on all three — role-based state machine: line-follow, marker &amp; dead-reckoning navigation, gap-holding.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The hub app: city map + route planning + ETA, ~5 Hz coordination, voice interface.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Reliable command protocol — acknowledged, retried, verified.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Camera-free and fully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06 · PROTOTYPE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From three kits to a coordinated convoy.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BUILDING PROCESS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Assembled 3 XRP kits; wrote one firmware shared by all — roles assigned live over Bluetooth.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Built a web-based Hub (Web Bluetooth) that connects the fleet, plans routes on a hand-mapped model town, and speaks each step.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Added a voice interface — spoken destination in, spoken guidance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148840"/>
            <a:ext cx="5120640" cy="3977639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2350008"/>
            <a:ext cx="4608575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INITIAL TESTING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Verified BLE connection + role assignment and the live telemetry loop.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Confirmed motor control and per-robot state reporting.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Built a full software simulator of the 3-robot convoy to validate coordination end-to-end before touching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07 · TESTING &amp;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EAF0F7"/>
                </a:solidFill>
                <a:latin typeface="Arial"/>
              </a:rPr>
              <a:t>The real challenge was wireless reliability — not the motors.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468880"/>
            <a:ext cx="3310128" cy="310896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670048"/>
            <a:ext cx="279806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ENVIRONMENTS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 hand-built miniature town, measured to the centimetre.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 full simulator (virtual fleet) with injectable packet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2468880"/>
            <a:ext cx="3310128" cy="310896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2670048"/>
            <a:ext cx="279806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FINDINGS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Commands could be lost, delayed, or duplicated — a robot left behind.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Sensors were noisy — ultrasonic spikes, encoder glitches.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9288" y="2468880"/>
            <a:ext cx="3273552" cy="310896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2670048"/>
            <a:ext cx="276148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34C77B"/>
                </a:solidFill>
                <a:latin typeface="Consolas"/>
              </a:rPr>
              <a:t>ITERATIONS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Rebuilt comms: acknowledgment, retry, synchronized start, verification.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An adversarial review found &amp; fixed 10 reliability defects.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Hardened firmware — idempotent commands, debounced obstacle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715000"/>
            <a:ext cx="5852160" cy="457200"/>
          </a:xfrm>
          <a:prstGeom prst="roundRect">
            <a:avLst>
              <a:gd name="adj" fmla="val 4500"/>
            </a:avLst>
          </a:prstGeom>
          <a:solidFill>
            <a:srgbClr val="0C1420"/>
          </a:solidFill>
          <a:ln w="9525">
            <a:solidFill>
              <a:srgbClr val="34C7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8064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34C77B"/>
                </a:solidFill>
                <a:latin typeface="Consolas"/>
              </a:rPr>
              <a:t>✓  Delivery holds at 40% simulated packet loss  →  still 3/3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08 · 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A swarm you can trust to move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3310128" cy="393192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0008"/>
            <a:ext cx="279806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34C77B"/>
                </a:solidFill>
                <a:latin typeface="Consolas"/>
              </a:rPr>
              <a:t>SUCCESS METRICS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Commands confirmed by all 3 — even at 40% simulated packet loss.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Deterministic: the fleet starts in sync, or safely aborts.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Full voice → coordinate → guide → arrive validated in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2148840"/>
            <a:ext cx="3310128" cy="393192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2350008"/>
            <a:ext cx="279806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USER-CENTRED DESIGN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Camera-free &amp; offline — answers the privacy concern head-on.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The user sets the pace — the system adapts to them.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Spoken guidance + arm tap for a non-visual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9288" y="2148840"/>
            <a:ext cx="3273552" cy="393192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2350008"/>
            <a:ext cx="2761488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CHALLENGES OVERCOME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BLE reliability — a verifiable, retrying protocol.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Sensor noise — filtering &amp; debouncing.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Synchronization — a two-phase, verified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09 ·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EAF0F7"/>
                </a:solidFill>
                <a:latin typeface="Arial"/>
              </a:rPr>
              <a:t>Where it goes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3310128" cy="32918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0008"/>
            <a:ext cx="2798064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SENSE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Head-height obstacle detection — the hazard the cane misses.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Haptic feedback in the companion robot.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2148840"/>
            <a:ext cx="3310128" cy="32918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2350008"/>
            <a:ext cx="2798064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SCALE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Larger swarms and longer routes.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Automatic mapping of new indoor spaces.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Better battery &amp;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9288" y="2148840"/>
            <a:ext cx="3273552" cy="329184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2350008"/>
            <a:ext cx="276148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DEPLOY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Real-world pilots — airports, care homes, hospitals.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Trials with the people we built it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FB1C6"/>
                </a:solidFill>
                <a:latin typeface="Arial"/>
              </a:rPr>
              <a:t>Every step toward the same goal: guidance that gives independence 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10 · CONCLUSION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EAF0F7"/>
                </a:solidFill>
                <a:latin typeface="Arial"/>
              </a:rPr>
              <a:t>Problem identified. Solution built. Coordination proven.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77440"/>
            <a:ext cx="5120640" cy="292608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578608"/>
            <a:ext cx="460857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SUMMARY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Problem — a large, under-served population can't move independently indoors.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Solution — a camera-free, voice-first robot swarm that physically guides.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Result — a reliable, verifiable coordination layer, validated end-to-end.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377440"/>
            <a:ext cx="5120640" cy="2926080"/>
          </a:xfrm>
          <a:prstGeom prst="roundRect">
            <a:avLst>
              <a:gd name="adj" fmla="val 4500"/>
            </a:avLst>
          </a:prstGeom>
          <a:solidFill>
            <a:srgbClr val="121F30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2578608"/>
            <a:ext cx="460857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1">
                <a:solidFill>
                  <a:srgbClr val="FFB02E"/>
                </a:solidFill>
                <a:latin typeface="Consolas"/>
              </a:rPr>
              <a:t>LIVE DEMONSTRATION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Speak a destination — 'Take me to the Eiffel Tower.'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The hub confirms all robots, then triggers a synchronized start.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9FB1C6"/>
                </a:solidFill>
                <a:latin typeface="Arial"/>
              </a:rPr>
              <a:t>•  The fleet moves through the town and announces arrival.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0424160" cy="777240"/>
          </a:xfrm>
          <a:prstGeom prst="roundRect">
            <a:avLst>
              <a:gd name="adj" fmla="val 4500"/>
            </a:avLst>
          </a:prstGeom>
          <a:solidFill>
            <a:srgbClr val="1C180A"/>
          </a:solidFill>
          <a:ln w="9525">
            <a:solidFill>
              <a:srgbClr val="24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B02E"/>
                </a:solidFill>
                <a:latin typeface="Consolas"/>
              </a:rPr>
              <a:t>Q &amp; A   —   open floor for your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945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B02E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74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EAF0F7"/>
                </a:solidFill>
                <a:latin typeface="Arial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9875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9FB1C6"/>
                </a:solidFill>
                <a:latin typeface="Arial"/>
              </a:rPr>
              <a:t>To our mentors, teachers, and everyone who tested, questioned, and cheered us on — thank you. This project is for the travelers it's meant to 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FB1C6"/>
                </a:solidFill>
                <a:latin typeface="Consolas"/>
              </a:rPr>
              <a:t>Violet · Samuel · Gabriel     ·     Contact: [insert contact details]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